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8" d="100"/>
          <a:sy n="78" d="100"/>
        </p:scale>
        <p:origin x="78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rdr00000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7828946" cy="861497"/>
          </a:xfrm>
        </p:spPr>
        <p:txBody>
          <a:bodyPr vert="horz" lIns="91440" tIns="45720" rIns="91440" bIns="45720" rtlCol="0" anchor="t">
            <a:normAutofit/>
          </a:bodyPr>
          <a:lstStyle/>
          <a:p>
            <a:r>
              <a:rPr lang="en-US" b="0" dirty="0">
                <a:solidFill>
                  <a:schemeClr val="tx1"/>
                </a:solidFill>
              </a:rPr>
              <a:t>Student Name -  Aravind R Nair</a:t>
            </a:r>
            <a:endParaRPr lang="en-IN" b="0" dirty="0">
              <a:solidFill>
                <a:schemeClr val="tx1"/>
              </a:solidFill>
            </a:endParaRPr>
          </a:p>
          <a:p>
            <a:r>
              <a:rPr lang="en-US" b="0" dirty="0">
                <a:solidFill>
                  <a:schemeClr val="tx1"/>
                </a:solidFill>
              </a:rPr>
              <a:t>College Name – Amal Jyothi College of Engineering (</a:t>
            </a:r>
            <a:r>
              <a:rPr lang="en-US" b="0" dirty="0" err="1">
                <a:solidFill>
                  <a:schemeClr val="tx1"/>
                </a:solidFill>
              </a:rPr>
              <a:t>Passout</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66916" y="4576469"/>
            <a:ext cx="5633884" cy="369332"/>
          </a:xfrm>
          <a:prstGeom prst="rect">
            <a:avLst/>
          </a:prstGeom>
          <a:noFill/>
        </p:spPr>
        <p:txBody>
          <a:bodyPr wrap="square" rtlCol="0">
            <a:spAutoFit/>
          </a:bodyPr>
          <a:lstStyle/>
          <a:p>
            <a:r>
              <a:rPr lang="en-US" b="1" dirty="0"/>
              <a:t>AICTE STU ID : STU6839c4b652a021748616374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sz="1200" b="0" dirty="0"/>
            </a:br>
            <a:r>
              <a:rPr lang="en-IN" sz="2000" dirty="0"/>
              <a:t>This project </a:t>
            </a:r>
            <a:r>
              <a:rPr lang="en-IN" sz="2000" dirty="0" err="1"/>
              <a:t>analyzes</a:t>
            </a:r>
            <a:r>
              <a:rPr lang="en-IN" sz="2000" dirty="0"/>
              <a:t> a dataset of 4,000 farm records spanning three agricultural seasons — Kharif, Rabi, and Zaid — across 8 Indian states, 8 crops, and 4 irrigation methods. The dataset captures environmental conditions (rainfall, temperature, soil health), resource usage (fertilizer, pesticide, water), and economic outcomes (cost, revenue, profit) for each farm.</a:t>
            </a:r>
            <a:br>
              <a:rPr lang="en-IN" sz="2000" dirty="0"/>
            </a:br>
            <a:r>
              <a:rPr lang="en-IN" sz="2000" dirty="0"/>
              <a:t>The analysis follows a full data-analytics workflow: exploring the raw data, cleaning missing values and outliers, engineering derived metrics (profit margin, cost/revenue per hectare), and applying statistical tests (ANOVA, Kruskal-Wallis, Chi-square, Pearson correlation) alongside visualizations to determine whether — and why — agricultural performance differs by season. The goal is to move from raw numbers to evidence-based conclusions that could inform seasonal agricultural planning.</a:t>
            </a:r>
            <a:br>
              <a:rPr lang="en-IN"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dirty="0"/>
              <a:t>Farmers and agricultural cooperatives planning crop and season choices</a:t>
            </a:r>
          </a:p>
          <a:p>
            <a:pPr lvl="0"/>
            <a:r>
              <a:rPr lang="en-IN" sz="3600" dirty="0"/>
              <a:t>State agricultural departments and policymakers designing seasonal support programs</a:t>
            </a:r>
          </a:p>
          <a:p>
            <a:pPr lvl="0"/>
            <a:r>
              <a:rPr lang="en-IN" sz="3600" dirty="0"/>
              <a:t>Agri-finance and insurance providers assessing seasonal risk</a:t>
            </a:r>
          </a:p>
          <a:p>
            <a:pPr lvl="0"/>
            <a:r>
              <a:rPr lang="en-IN" sz="3600" dirty="0"/>
              <a:t>Agronomy researchers studying environment–yield relationships</a:t>
            </a:r>
          </a:p>
          <a:p>
            <a:pPr lvl="0"/>
            <a:r>
              <a:rPr lang="en-IN" sz="3600" dirty="0"/>
              <a:t>Students and analysts using this as a template for real-world seasonal data analysis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34282" y="1463105"/>
            <a:ext cx="9027702" cy="5243448"/>
          </a:xfrm>
        </p:spPr>
        <p:txBody>
          <a:bodyPr/>
          <a:lstStyle/>
          <a:p>
            <a:pPr lvl="0"/>
            <a:r>
              <a:rPr lang="en-IN" b="1" dirty="0"/>
              <a:t>Language:</a:t>
            </a:r>
            <a:r>
              <a:rPr lang="en-IN" dirty="0"/>
              <a:t> Python 3</a:t>
            </a:r>
          </a:p>
          <a:p>
            <a:pPr lvl="0"/>
            <a:r>
              <a:rPr lang="en-IN" b="1" dirty="0"/>
              <a:t>Environment:</a:t>
            </a:r>
            <a:r>
              <a:rPr lang="en-IN" dirty="0"/>
              <a:t> Google </a:t>
            </a:r>
            <a:r>
              <a:rPr lang="en-IN" dirty="0" err="1"/>
              <a:t>Colab</a:t>
            </a:r>
            <a:r>
              <a:rPr lang="en-IN" dirty="0"/>
              <a:t> (Jupyter Notebook)</a:t>
            </a:r>
          </a:p>
          <a:p>
            <a:pPr lvl="0"/>
            <a:r>
              <a:rPr lang="en-IN" b="1" dirty="0"/>
              <a:t>Data handling:</a:t>
            </a:r>
            <a:r>
              <a:rPr lang="en-IN" dirty="0"/>
              <a:t> pandas, NumPy</a:t>
            </a:r>
          </a:p>
          <a:p>
            <a:pPr lvl="0"/>
            <a:r>
              <a:rPr lang="en-IN" b="1" dirty="0"/>
              <a:t>Visualization:</a:t>
            </a:r>
            <a:r>
              <a:rPr lang="en-IN" dirty="0"/>
              <a:t> Matplotlib, Seaborn</a:t>
            </a:r>
          </a:p>
          <a:p>
            <a:pPr lvl="0"/>
            <a:r>
              <a:rPr lang="en-IN" b="1" dirty="0"/>
              <a:t>Statistical testing:</a:t>
            </a:r>
            <a:r>
              <a:rPr lang="en-IN" dirty="0"/>
              <a:t> SciPy (ANOVA, Kruskal-Wallis, Chi-square, Pearson correlation)</a:t>
            </a:r>
          </a:p>
          <a:p>
            <a:pPr lvl="0"/>
            <a:r>
              <a:rPr lang="en-IN" b="1" dirty="0"/>
              <a:t>Version control:</a:t>
            </a:r>
            <a:r>
              <a:rPr lang="en-IN" dirty="0"/>
              <a:t> GitHub</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34005" y="8148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CECD09A-39DC-0328-7BC4-CE485D0C0193}"/>
              </a:ext>
            </a:extLst>
          </p:cNvPr>
          <p:cNvSpPr txBox="1"/>
          <p:nvPr/>
        </p:nvSpPr>
        <p:spPr>
          <a:xfrm>
            <a:off x="3664543" y="779649"/>
            <a:ext cx="2678938" cy="369332"/>
          </a:xfrm>
          <a:prstGeom prst="rect">
            <a:avLst/>
          </a:prstGeom>
          <a:noFill/>
        </p:spPr>
        <p:txBody>
          <a:bodyPr wrap="none" rtlCol="0">
            <a:spAutoFit/>
          </a:bodyPr>
          <a:lstStyle/>
          <a:p>
            <a:r>
              <a:rPr lang="en-IN" dirty="0"/>
              <a:t>Seasonal summary table</a:t>
            </a:r>
          </a:p>
        </p:txBody>
      </p:sp>
      <p:graphicFrame>
        <p:nvGraphicFramePr>
          <p:cNvPr id="6" name="Table 5">
            <a:extLst>
              <a:ext uri="{FF2B5EF4-FFF2-40B4-BE49-F238E27FC236}">
                <a16:creationId xmlns:a16="http://schemas.microsoft.com/office/drawing/2014/main" id="{1D5BB723-8800-325C-B2B6-BAEE20866B68}"/>
              </a:ext>
            </a:extLst>
          </p:cNvPr>
          <p:cNvGraphicFramePr>
            <a:graphicFrameLocks noGrp="1"/>
          </p:cNvGraphicFramePr>
          <p:nvPr>
            <p:extLst>
              <p:ext uri="{D42A27DB-BD31-4B8C-83A1-F6EECF244321}">
                <p14:modId xmlns:p14="http://schemas.microsoft.com/office/powerpoint/2010/main" val="273998230"/>
              </p:ext>
            </p:extLst>
          </p:nvPr>
        </p:nvGraphicFramePr>
        <p:xfrm>
          <a:off x="675957" y="3983581"/>
          <a:ext cx="8596315" cy="2377440"/>
        </p:xfrm>
        <a:graphic>
          <a:graphicData uri="http://schemas.openxmlformats.org/drawingml/2006/table">
            <a:tbl>
              <a:tblPr/>
              <a:tblGrid>
                <a:gridCol w="661255">
                  <a:extLst>
                    <a:ext uri="{9D8B030D-6E8A-4147-A177-3AD203B41FA5}">
                      <a16:colId xmlns:a16="http://schemas.microsoft.com/office/drawing/2014/main" val="269025764"/>
                    </a:ext>
                  </a:extLst>
                </a:gridCol>
                <a:gridCol w="661255">
                  <a:extLst>
                    <a:ext uri="{9D8B030D-6E8A-4147-A177-3AD203B41FA5}">
                      <a16:colId xmlns:a16="http://schemas.microsoft.com/office/drawing/2014/main" val="537560903"/>
                    </a:ext>
                  </a:extLst>
                </a:gridCol>
                <a:gridCol w="661255">
                  <a:extLst>
                    <a:ext uri="{9D8B030D-6E8A-4147-A177-3AD203B41FA5}">
                      <a16:colId xmlns:a16="http://schemas.microsoft.com/office/drawing/2014/main" val="1326339136"/>
                    </a:ext>
                  </a:extLst>
                </a:gridCol>
                <a:gridCol w="661255">
                  <a:extLst>
                    <a:ext uri="{9D8B030D-6E8A-4147-A177-3AD203B41FA5}">
                      <a16:colId xmlns:a16="http://schemas.microsoft.com/office/drawing/2014/main" val="1407830262"/>
                    </a:ext>
                  </a:extLst>
                </a:gridCol>
                <a:gridCol w="661255">
                  <a:extLst>
                    <a:ext uri="{9D8B030D-6E8A-4147-A177-3AD203B41FA5}">
                      <a16:colId xmlns:a16="http://schemas.microsoft.com/office/drawing/2014/main" val="2640729661"/>
                    </a:ext>
                  </a:extLst>
                </a:gridCol>
                <a:gridCol w="661255">
                  <a:extLst>
                    <a:ext uri="{9D8B030D-6E8A-4147-A177-3AD203B41FA5}">
                      <a16:colId xmlns:a16="http://schemas.microsoft.com/office/drawing/2014/main" val="3315690312"/>
                    </a:ext>
                  </a:extLst>
                </a:gridCol>
                <a:gridCol w="661255">
                  <a:extLst>
                    <a:ext uri="{9D8B030D-6E8A-4147-A177-3AD203B41FA5}">
                      <a16:colId xmlns:a16="http://schemas.microsoft.com/office/drawing/2014/main" val="1461638255"/>
                    </a:ext>
                  </a:extLst>
                </a:gridCol>
                <a:gridCol w="661255">
                  <a:extLst>
                    <a:ext uri="{9D8B030D-6E8A-4147-A177-3AD203B41FA5}">
                      <a16:colId xmlns:a16="http://schemas.microsoft.com/office/drawing/2014/main" val="1099006166"/>
                    </a:ext>
                  </a:extLst>
                </a:gridCol>
                <a:gridCol w="661255">
                  <a:extLst>
                    <a:ext uri="{9D8B030D-6E8A-4147-A177-3AD203B41FA5}">
                      <a16:colId xmlns:a16="http://schemas.microsoft.com/office/drawing/2014/main" val="3261363423"/>
                    </a:ext>
                  </a:extLst>
                </a:gridCol>
                <a:gridCol w="661255">
                  <a:extLst>
                    <a:ext uri="{9D8B030D-6E8A-4147-A177-3AD203B41FA5}">
                      <a16:colId xmlns:a16="http://schemas.microsoft.com/office/drawing/2014/main" val="940357421"/>
                    </a:ext>
                  </a:extLst>
                </a:gridCol>
                <a:gridCol w="661255">
                  <a:extLst>
                    <a:ext uri="{9D8B030D-6E8A-4147-A177-3AD203B41FA5}">
                      <a16:colId xmlns:a16="http://schemas.microsoft.com/office/drawing/2014/main" val="2261672942"/>
                    </a:ext>
                  </a:extLst>
                </a:gridCol>
                <a:gridCol w="661255">
                  <a:extLst>
                    <a:ext uri="{9D8B030D-6E8A-4147-A177-3AD203B41FA5}">
                      <a16:colId xmlns:a16="http://schemas.microsoft.com/office/drawing/2014/main" val="3817679351"/>
                    </a:ext>
                  </a:extLst>
                </a:gridCol>
                <a:gridCol w="661255">
                  <a:extLst>
                    <a:ext uri="{9D8B030D-6E8A-4147-A177-3AD203B41FA5}">
                      <a16:colId xmlns:a16="http://schemas.microsoft.com/office/drawing/2014/main" val="4016141813"/>
                    </a:ext>
                  </a:extLst>
                </a:gridCol>
              </a:tblGrid>
              <a:tr h="731520">
                <a:tc>
                  <a:txBody>
                    <a:bodyPr/>
                    <a:lstStyle/>
                    <a:p>
                      <a:pPr algn="r">
                        <a:buNone/>
                      </a:pPr>
                      <a:br>
                        <a:rPr lang="en-IN" sz="1000" b="1" i="0" dirty="0">
                          <a:solidFill>
                            <a:srgbClr val="E3E3E3"/>
                          </a:solidFill>
                          <a:effectLst/>
                          <a:latin typeface="Google Sans Text"/>
                        </a:rPr>
                      </a:br>
                      <a:r>
                        <a:rPr lang="en-IN" sz="1000" b="1" i="0" dirty="0" err="1">
                          <a:solidFill>
                            <a:srgbClr val="E3E3E3"/>
                          </a:solidFill>
                          <a:effectLst/>
                          <a:latin typeface="Google Sans Text"/>
                        </a:rPr>
                        <a:t>Avg_Rainfall_mm</a:t>
                      </a:r>
                      <a:endParaRPr lang="en-IN" sz="1000" b="1" i="0" dirty="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Avg_Temperature_C</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Avg_Yield_Tonnes_Ha</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Avg_Production_Tonnes</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Avg_Total_Cost_INR</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Avg_Revenue_INR</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Avg_Profit_INR</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Avg_Profit_Margin_pct</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Avg_Water_Used_m3</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Avg_Water_Efficiency</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Avg_Disease_Pest_Risk_pct</a:t>
                      </a:r>
                    </a:p>
                  </a:txBody>
                  <a:tcPr anchor="ctr">
                    <a:lnL>
                      <a:noFill/>
                    </a:lnL>
                    <a:lnR>
                      <a:noFill/>
                    </a:lnR>
                    <a:lnT>
                      <a:noFill/>
                    </a:lnT>
                    <a:lnB>
                      <a:noFill/>
                    </a:lnB>
                    <a:solidFill>
                      <a:srgbClr val="282A2C"/>
                    </a:solidFill>
                  </a:tcPr>
                </a:tc>
                <a:tc>
                  <a:txBody>
                    <a:bodyPr/>
                    <a:lstStyle/>
                    <a:p>
                      <a:pPr algn="r">
                        <a:buNone/>
                      </a:pPr>
                      <a:r>
                        <a:rPr lang="en-IN" sz="1000" b="1" i="0">
                          <a:solidFill>
                            <a:srgbClr val="E3E3E3"/>
                          </a:solidFill>
                          <a:effectLst/>
                          <a:latin typeface="Google Sans Text"/>
                        </a:rPr>
                        <a:t>Record_Count</a:t>
                      </a:r>
                    </a:p>
                  </a:txBody>
                  <a:tcPr anchor="ctr">
                    <a:lnL>
                      <a:noFill/>
                    </a:lnL>
                    <a:lnR>
                      <a:noFill/>
                    </a:lnR>
                    <a:lnT>
                      <a:noFill/>
                    </a:lnT>
                    <a:lnB>
                      <a:noFill/>
                    </a:lnB>
                    <a:solidFill>
                      <a:srgbClr val="282A2C"/>
                    </a:solidFill>
                  </a:tcPr>
                </a:tc>
                <a:tc>
                  <a:txBody>
                    <a:bodyPr/>
                    <a:lstStyle/>
                    <a:p>
                      <a:endParaRPr lang="en-IN" sz="1800"/>
                    </a:p>
                  </a:txBody>
                  <a:tcPr>
                    <a:lnL>
                      <a:noFill/>
                    </a:lnL>
                  </a:tcPr>
                </a:tc>
                <a:extLst>
                  <a:ext uri="{0D108BD9-81ED-4DB2-BD59-A6C34878D82A}">
                    <a16:rowId xmlns:a16="http://schemas.microsoft.com/office/drawing/2014/main" val="4222193044"/>
                  </a:ext>
                </a:extLst>
              </a:tr>
              <a:tr h="251460">
                <a:tc>
                  <a:txBody>
                    <a:bodyPr/>
                    <a:lstStyle/>
                    <a:p>
                      <a:pPr algn="r">
                        <a:buNone/>
                      </a:pPr>
                      <a:r>
                        <a:rPr lang="en-IN" sz="1000" b="1" i="0">
                          <a:solidFill>
                            <a:srgbClr val="E3E3E3"/>
                          </a:solidFill>
                          <a:effectLst/>
                          <a:latin typeface="Google Sans Text"/>
                        </a:rPr>
                        <a:t>Season</a:t>
                      </a: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dirty="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T>
                      <a:noFill/>
                    </a:lnT>
                    <a:lnB>
                      <a:noFill/>
                    </a:lnB>
                    <a:solidFill>
                      <a:srgbClr val="282A2C"/>
                    </a:solidFill>
                  </a:tcPr>
                </a:tc>
                <a:tc>
                  <a:txBody>
                    <a:bodyPr/>
                    <a:lstStyle/>
                    <a:p>
                      <a:pPr algn="r">
                        <a:buNone/>
                      </a:pPr>
                      <a:endParaRPr lang="en-IN" sz="1000" b="1" i="0">
                        <a:solidFill>
                          <a:srgbClr val="E3E3E3"/>
                        </a:solidFill>
                        <a:effectLst/>
                        <a:latin typeface="Google Sans Text"/>
                      </a:endParaRPr>
                    </a:p>
                  </a:txBody>
                  <a:tcPr anchor="ctr">
                    <a:lnL>
                      <a:noFill/>
                    </a:lnL>
                    <a:lnR>
                      <a:noFill/>
                    </a:lnR>
                    <a:lnB>
                      <a:noFill/>
                    </a:lnB>
                    <a:solidFill>
                      <a:srgbClr val="282A2C"/>
                    </a:solidFill>
                  </a:tcPr>
                </a:tc>
                <a:extLst>
                  <a:ext uri="{0D108BD9-81ED-4DB2-BD59-A6C34878D82A}">
                    <a16:rowId xmlns:a16="http://schemas.microsoft.com/office/drawing/2014/main" val="3812304030"/>
                  </a:ext>
                </a:extLst>
              </a:tr>
              <a:tr h="411480">
                <a:tc>
                  <a:txBody>
                    <a:bodyPr/>
                    <a:lstStyle/>
                    <a:p>
                      <a:pPr algn="l" fontAlgn="ctr">
                        <a:buNone/>
                      </a:pPr>
                      <a:r>
                        <a:rPr lang="en-IN" sz="1000" b="1" i="0">
                          <a:solidFill>
                            <a:srgbClr val="E3E3E3"/>
                          </a:solidFill>
                          <a:effectLst/>
                          <a:latin typeface="Google Sans Text"/>
                        </a:rPr>
                        <a:t>Kharif</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852.11</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28.45</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2.25</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18.48</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531804.41</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710719.06</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91727.66</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-40.96</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5680.51</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4.04</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54.47</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1779</a:t>
                      </a:r>
                    </a:p>
                  </a:txBody>
                  <a:tcPr anchor="ctr">
                    <a:lnL>
                      <a:noFill/>
                    </a:lnL>
                    <a:lnR>
                      <a:noFill/>
                    </a:lnR>
                    <a:lnT>
                      <a:noFill/>
                    </a:lnT>
                    <a:lnB>
                      <a:noFill/>
                    </a:lnB>
                    <a:solidFill>
                      <a:srgbClr val="282A2C"/>
                    </a:solidFill>
                  </a:tcPr>
                </a:tc>
                <a:extLst>
                  <a:ext uri="{0D108BD9-81ED-4DB2-BD59-A6C34878D82A}">
                    <a16:rowId xmlns:a16="http://schemas.microsoft.com/office/drawing/2014/main" val="627191846"/>
                  </a:ext>
                </a:extLst>
              </a:tr>
              <a:tr h="411480">
                <a:tc>
                  <a:txBody>
                    <a:bodyPr/>
                    <a:lstStyle/>
                    <a:p>
                      <a:pPr algn="l" fontAlgn="ctr">
                        <a:buNone/>
                      </a:pPr>
                      <a:r>
                        <a:rPr lang="en-IN" sz="1000" b="1" i="0">
                          <a:solidFill>
                            <a:srgbClr val="E3E3E3"/>
                          </a:solidFill>
                          <a:effectLst/>
                          <a:latin typeface="Google Sans Text"/>
                        </a:rPr>
                        <a:t>Rabi</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435.94</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23.49</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2.03</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16.53</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513836.58</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601526.05</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39059.89</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-45.36</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5505.50</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3.73</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40.48</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1627</a:t>
                      </a:r>
                    </a:p>
                  </a:txBody>
                  <a:tcPr anchor="ctr">
                    <a:lnL>
                      <a:noFill/>
                    </a:lnL>
                    <a:lnR>
                      <a:noFill/>
                    </a:lnR>
                    <a:lnT>
                      <a:noFill/>
                    </a:lnT>
                    <a:lnB>
                      <a:noFill/>
                    </a:lnB>
                    <a:solidFill>
                      <a:srgbClr val="282A2C"/>
                    </a:solidFill>
                  </a:tcPr>
                </a:tc>
                <a:extLst>
                  <a:ext uri="{0D108BD9-81ED-4DB2-BD59-A6C34878D82A}">
                    <a16:rowId xmlns:a16="http://schemas.microsoft.com/office/drawing/2014/main" val="189934177"/>
                  </a:ext>
                </a:extLst>
              </a:tr>
              <a:tr h="571500">
                <a:tc>
                  <a:txBody>
                    <a:bodyPr/>
                    <a:lstStyle/>
                    <a:p>
                      <a:pPr algn="l" fontAlgn="ctr">
                        <a:buNone/>
                      </a:pPr>
                      <a:r>
                        <a:rPr lang="en-IN" sz="1000" b="1" i="0">
                          <a:solidFill>
                            <a:srgbClr val="E3E3E3"/>
                          </a:solidFill>
                          <a:effectLst/>
                          <a:latin typeface="Google Sans Text"/>
                        </a:rPr>
                        <a:t>Zaid</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299.12</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31.04</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1.81</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15.01</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543976.73</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519171.90</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-51621.92</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-69.21</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5999.48</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3.25</a:t>
                      </a:r>
                    </a:p>
                  </a:txBody>
                  <a:tcPr anchor="ctr">
                    <a:lnL>
                      <a:noFill/>
                    </a:lnL>
                    <a:lnR>
                      <a:noFill/>
                    </a:lnR>
                    <a:lnT>
                      <a:noFill/>
                    </a:lnT>
                    <a:lnB>
                      <a:noFill/>
                    </a:lnB>
                    <a:solidFill>
                      <a:srgbClr val="282A2C"/>
                    </a:solidFill>
                  </a:tcPr>
                </a:tc>
                <a:tc>
                  <a:txBody>
                    <a:bodyPr/>
                    <a:lstStyle/>
                    <a:p>
                      <a:pPr algn="r">
                        <a:buNone/>
                      </a:pPr>
                      <a:r>
                        <a:rPr lang="en-IN" sz="1000" b="0" i="0">
                          <a:solidFill>
                            <a:srgbClr val="E3E3E3"/>
                          </a:solidFill>
                          <a:effectLst/>
                          <a:latin typeface="Google Sans Text"/>
                        </a:rPr>
                        <a:t>38.22</a:t>
                      </a:r>
                    </a:p>
                  </a:txBody>
                  <a:tcPr anchor="ctr">
                    <a:lnL>
                      <a:noFill/>
                    </a:lnL>
                    <a:lnR>
                      <a:noFill/>
                    </a:lnR>
                    <a:lnT>
                      <a:noFill/>
                    </a:lnT>
                    <a:lnB>
                      <a:noFill/>
                    </a:lnB>
                    <a:solidFill>
                      <a:srgbClr val="282A2C"/>
                    </a:solidFill>
                  </a:tcPr>
                </a:tc>
                <a:tc>
                  <a:txBody>
                    <a:bodyPr/>
                    <a:lstStyle/>
                    <a:p>
                      <a:pPr algn="r">
                        <a:buNone/>
                      </a:pPr>
                      <a:r>
                        <a:rPr lang="en-IN" sz="1000" b="0" i="0" dirty="0">
                          <a:solidFill>
                            <a:srgbClr val="E3E3E3"/>
                          </a:solidFill>
                          <a:effectLst/>
                          <a:latin typeface="Google Sans Text"/>
                        </a:rPr>
                        <a:t>594</a:t>
                      </a:r>
                    </a:p>
                  </a:txBody>
                  <a:tcPr anchor="ctr">
                    <a:lnL>
                      <a:noFill/>
                    </a:lnL>
                    <a:lnR>
                      <a:noFill/>
                    </a:lnR>
                    <a:lnT>
                      <a:noFill/>
                    </a:lnT>
                    <a:lnB>
                      <a:noFill/>
                    </a:lnB>
                    <a:solidFill>
                      <a:srgbClr val="282A2C"/>
                    </a:solidFill>
                  </a:tcPr>
                </a:tc>
                <a:extLst>
                  <a:ext uri="{0D108BD9-81ED-4DB2-BD59-A6C34878D82A}">
                    <a16:rowId xmlns:a16="http://schemas.microsoft.com/office/drawing/2014/main" val="3008847533"/>
                  </a:ext>
                </a:extLst>
              </a:tr>
            </a:tbl>
          </a:graphicData>
        </a:graphic>
      </p:graphicFrame>
      <p:sp>
        <p:nvSpPr>
          <p:cNvPr id="11" name="TextBox 10">
            <a:extLst>
              <a:ext uri="{FF2B5EF4-FFF2-40B4-BE49-F238E27FC236}">
                <a16:creationId xmlns:a16="http://schemas.microsoft.com/office/drawing/2014/main" id="{8A5CF6A4-587B-A6C0-4FE2-6D667699610E}"/>
              </a:ext>
            </a:extLst>
          </p:cNvPr>
          <p:cNvSpPr txBox="1"/>
          <p:nvPr/>
        </p:nvSpPr>
        <p:spPr>
          <a:xfrm>
            <a:off x="675957" y="6302745"/>
            <a:ext cx="10474342" cy="369332"/>
          </a:xfrm>
          <a:prstGeom prst="rect">
            <a:avLst/>
          </a:prstGeom>
          <a:noFill/>
        </p:spPr>
        <p:txBody>
          <a:bodyPr wrap="none" rtlCol="0">
            <a:spAutoFit/>
          </a:bodyPr>
          <a:lstStyle/>
          <a:p>
            <a:r>
              <a:rPr lang="en-IN" dirty="0"/>
              <a:t>Kharif leads in yield (2.25 t/ha) and profit (₹91,728 </a:t>
            </a:r>
            <a:r>
              <a:rPr lang="en-IN" dirty="0" err="1"/>
              <a:t>avg</a:t>
            </a:r>
            <a:r>
              <a:rPr lang="en-IN" dirty="0"/>
              <a:t>); Zaid is loss-making on average (–₹51,622)</a:t>
            </a:r>
          </a:p>
        </p:txBody>
      </p:sp>
      <p:pic>
        <p:nvPicPr>
          <p:cNvPr id="16" name="Picture 15">
            <a:extLst>
              <a:ext uri="{FF2B5EF4-FFF2-40B4-BE49-F238E27FC236}">
                <a16:creationId xmlns:a16="http://schemas.microsoft.com/office/drawing/2014/main" id="{16F0F720-8BDE-714A-E3FC-4C0762286622}"/>
              </a:ext>
            </a:extLst>
          </p:cNvPr>
          <p:cNvPicPr>
            <a:picLocks noChangeAspect="1"/>
          </p:cNvPicPr>
          <p:nvPr/>
        </p:nvPicPr>
        <p:blipFill>
          <a:blip r:embed="rId3"/>
          <a:stretch>
            <a:fillRect/>
          </a:stretch>
        </p:blipFill>
        <p:spPr>
          <a:xfrm>
            <a:off x="675957" y="1205530"/>
            <a:ext cx="8081673" cy="267121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82900" y="-6474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AAE2596-5A40-1D87-3698-312274872EC7}"/>
              </a:ext>
            </a:extLst>
          </p:cNvPr>
          <p:cNvPicPr>
            <a:picLocks noChangeAspect="1"/>
          </p:cNvPicPr>
          <p:nvPr/>
        </p:nvPicPr>
        <p:blipFill>
          <a:blip r:embed="rId3"/>
          <a:stretch>
            <a:fillRect/>
          </a:stretch>
        </p:blipFill>
        <p:spPr>
          <a:xfrm>
            <a:off x="471948" y="2799349"/>
            <a:ext cx="10648336" cy="3488379"/>
          </a:xfrm>
          <a:prstGeom prst="rect">
            <a:avLst/>
          </a:prstGeom>
        </p:spPr>
      </p:pic>
      <p:sp>
        <p:nvSpPr>
          <p:cNvPr id="11" name="TextBox 10">
            <a:extLst>
              <a:ext uri="{FF2B5EF4-FFF2-40B4-BE49-F238E27FC236}">
                <a16:creationId xmlns:a16="http://schemas.microsoft.com/office/drawing/2014/main" id="{AA9095A0-604A-3AB1-BF03-7DEA489707C4}"/>
              </a:ext>
            </a:extLst>
          </p:cNvPr>
          <p:cNvSpPr txBox="1"/>
          <p:nvPr/>
        </p:nvSpPr>
        <p:spPr>
          <a:xfrm>
            <a:off x="320982" y="6349705"/>
            <a:ext cx="10540181" cy="369332"/>
          </a:xfrm>
          <a:prstGeom prst="rect">
            <a:avLst/>
          </a:prstGeom>
          <a:noFill/>
        </p:spPr>
        <p:txBody>
          <a:bodyPr wrap="square">
            <a:spAutoFit/>
          </a:bodyPr>
          <a:lstStyle/>
          <a:p>
            <a:r>
              <a:rPr lang="en-IN" dirty="0"/>
              <a:t>ANOVA confirms the seasonal difference is statistically significant (Yield: p&lt;0.001, Profit: p&lt;0.001)</a:t>
            </a:r>
          </a:p>
        </p:txBody>
      </p:sp>
      <p:pic>
        <p:nvPicPr>
          <p:cNvPr id="13" name="Picture 12">
            <a:extLst>
              <a:ext uri="{FF2B5EF4-FFF2-40B4-BE49-F238E27FC236}">
                <a16:creationId xmlns:a16="http://schemas.microsoft.com/office/drawing/2014/main" id="{AA83329D-3ACA-CACB-7EE7-D2BD77B8A98B}"/>
              </a:ext>
            </a:extLst>
          </p:cNvPr>
          <p:cNvPicPr>
            <a:picLocks noChangeAspect="1"/>
          </p:cNvPicPr>
          <p:nvPr/>
        </p:nvPicPr>
        <p:blipFill>
          <a:blip r:embed="rId4"/>
          <a:stretch>
            <a:fillRect/>
          </a:stretch>
        </p:blipFill>
        <p:spPr>
          <a:xfrm>
            <a:off x="389808" y="766254"/>
            <a:ext cx="10648336" cy="2033095"/>
          </a:xfrm>
          <a:prstGeom prst="rect">
            <a:avLst/>
          </a:prstGeom>
        </p:spPr>
      </p:pic>
      <p:sp>
        <p:nvSpPr>
          <p:cNvPr id="16" name="TextBox 15">
            <a:extLst>
              <a:ext uri="{FF2B5EF4-FFF2-40B4-BE49-F238E27FC236}">
                <a16:creationId xmlns:a16="http://schemas.microsoft.com/office/drawing/2014/main" id="{96D0947A-F71F-6C52-7A6B-162C6A26431F}"/>
              </a:ext>
            </a:extLst>
          </p:cNvPr>
          <p:cNvSpPr txBox="1"/>
          <p:nvPr/>
        </p:nvSpPr>
        <p:spPr>
          <a:xfrm>
            <a:off x="4039015" y="396922"/>
            <a:ext cx="3956917" cy="369332"/>
          </a:xfrm>
          <a:prstGeom prst="rect">
            <a:avLst/>
          </a:prstGeom>
          <a:noFill/>
        </p:spPr>
        <p:txBody>
          <a:bodyPr wrap="none" rtlCol="0">
            <a:spAutoFit/>
          </a:bodyPr>
          <a:lstStyle/>
          <a:p>
            <a:r>
              <a:rPr lang="en-IN" dirty="0"/>
              <a:t>Yield and Profit bar charts by season</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82900" y="-4928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FBDA9C22-A4C6-E74F-ACA6-9E401E2F7F98}"/>
              </a:ext>
            </a:extLst>
          </p:cNvPr>
          <p:cNvSpPr txBox="1"/>
          <p:nvPr/>
        </p:nvSpPr>
        <p:spPr>
          <a:xfrm>
            <a:off x="4345694" y="348518"/>
            <a:ext cx="3174267" cy="369332"/>
          </a:xfrm>
          <a:prstGeom prst="rect">
            <a:avLst/>
          </a:prstGeom>
          <a:noFill/>
        </p:spPr>
        <p:txBody>
          <a:bodyPr wrap="none" rtlCol="0">
            <a:spAutoFit/>
          </a:bodyPr>
          <a:lstStyle/>
          <a:p>
            <a:r>
              <a:rPr lang="en-IN" dirty="0"/>
              <a:t>Crop × Season yield heatmap</a:t>
            </a:r>
          </a:p>
        </p:txBody>
      </p:sp>
      <p:sp>
        <p:nvSpPr>
          <p:cNvPr id="15" name="TextBox 14">
            <a:extLst>
              <a:ext uri="{FF2B5EF4-FFF2-40B4-BE49-F238E27FC236}">
                <a16:creationId xmlns:a16="http://schemas.microsoft.com/office/drawing/2014/main" id="{57E2BA5B-E3F3-50D0-BCB1-B046DE64B24A}"/>
              </a:ext>
            </a:extLst>
          </p:cNvPr>
          <p:cNvSpPr txBox="1"/>
          <p:nvPr/>
        </p:nvSpPr>
        <p:spPr>
          <a:xfrm>
            <a:off x="574246" y="6383774"/>
            <a:ext cx="9009198" cy="369332"/>
          </a:xfrm>
          <a:prstGeom prst="rect">
            <a:avLst/>
          </a:prstGeom>
          <a:noFill/>
        </p:spPr>
        <p:txBody>
          <a:bodyPr wrap="none" rtlCol="0">
            <a:spAutoFit/>
          </a:bodyPr>
          <a:lstStyle/>
          <a:p>
            <a:r>
              <a:rPr lang="en-IN" dirty="0"/>
              <a:t>Sugarcane stays stable across seasons (5.4 t/ha); Rice drops ~30% from Kharif to Zaid</a:t>
            </a:r>
          </a:p>
        </p:txBody>
      </p:sp>
      <p:pic>
        <p:nvPicPr>
          <p:cNvPr id="16" name="Picture 15">
            <a:extLst>
              <a:ext uri="{FF2B5EF4-FFF2-40B4-BE49-F238E27FC236}">
                <a16:creationId xmlns:a16="http://schemas.microsoft.com/office/drawing/2014/main" id="{0FD3C3C4-43F5-12EA-5371-ADF2FDEAF502}"/>
              </a:ext>
            </a:extLst>
          </p:cNvPr>
          <p:cNvPicPr>
            <a:picLocks noChangeAspect="1"/>
          </p:cNvPicPr>
          <p:nvPr/>
        </p:nvPicPr>
        <p:blipFill>
          <a:blip r:embed="rId3"/>
          <a:stretch>
            <a:fillRect/>
          </a:stretch>
        </p:blipFill>
        <p:spPr>
          <a:xfrm>
            <a:off x="574246" y="2089200"/>
            <a:ext cx="6328868" cy="4206428"/>
          </a:xfrm>
          <a:prstGeom prst="rect">
            <a:avLst/>
          </a:prstGeom>
        </p:spPr>
      </p:pic>
      <p:pic>
        <p:nvPicPr>
          <p:cNvPr id="19" name="Picture 18">
            <a:extLst>
              <a:ext uri="{FF2B5EF4-FFF2-40B4-BE49-F238E27FC236}">
                <a16:creationId xmlns:a16="http://schemas.microsoft.com/office/drawing/2014/main" id="{C4191F59-892F-CCC3-A612-11BECFF64B6A}"/>
              </a:ext>
            </a:extLst>
          </p:cNvPr>
          <p:cNvPicPr>
            <a:picLocks noChangeAspect="1"/>
          </p:cNvPicPr>
          <p:nvPr/>
        </p:nvPicPr>
        <p:blipFill>
          <a:blip r:embed="rId4"/>
          <a:stretch>
            <a:fillRect/>
          </a:stretch>
        </p:blipFill>
        <p:spPr>
          <a:xfrm>
            <a:off x="574246" y="1039474"/>
            <a:ext cx="6515665" cy="92972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6055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7AB1844-379A-2500-FE10-D310F30BB964}"/>
              </a:ext>
            </a:extLst>
          </p:cNvPr>
          <p:cNvSpPr txBox="1"/>
          <p:nvPr/>
        </p:nvSpPr>
        <p:spPr>
          <a:xfrm>
            <a:off x="3902151" y="443957"/>
            <a:ext cx="4230645" cy="369332"/>
          </a:xfrm>
          <a:prstGeom prst="rect">
            <a:avLst/>
          </a:prstGeom>
          <a:noFill/>
        </p:spPr>
        <p:txBody>
          <a:bodyPr wrap="none" rtlCol="0">
            <a:spAutoFit/>
          </a:bodyPr>
          <a:lstStyle/>
          <a:p>
            <a:r>
              <a:rPr lang="en-IN" dirty="0"/>
              <a:t>Correlation heatmap / top correlations</a:t>
            </a:r>
          </a:p>
        </p:txBody>
      </p:sp>
      <p:pic>
        <p:nvPicPr>
          <p:cNvPr id="11" name="Picture 10">
            <a:extLst>
              <a:ext uri="{FF2B5EF4-FFF2-40B4-BE49-F238E27FC236}">
                <a16:creationId xmlns:a16="http://schemas.microsoft.com/office/drawing/2014/main" id="{BC266956-6069-50CA-7D67-4E73FEBD8E03}"/>
              </a:ext>
            </a:extLst>
          </p:cNvPr>
          <p:cNvPicPr>
            <a:picLocks noChangeAspect="1"/>
          </p:cNvPicPr>
          <p:nvPr/>
        </p:nvPicPr>
        <p:blipFill>
          <a:blip r:embed="rId3"/>
          <a:stretch>
            <a:fillRect/>
          </a:stretch>
        </p:blipFill>
        <p:spPr>
          <a:xfrm>
            <a:off x="407279" y="889291"/>
            <a:ext cx="6500641" cy="5582629"/>
          </a:xfrm>
          <a:prstGeom prst="rect">
            <a:avLst/>
          </a:prstGeom>
        </p:spPr>
      </p:pic>
      <p:sp>
        <p:nvSpPr>
          <p:cNvPr id="12" name="TextBox 11">
            <a:extLst>
              <a:ext uri="{FF2B5EF4-FFF2-40B4-BE49-F238E27FC236}">
                <a16:creationId xmlns:a16="http://schemas.microsoft.com/office/drawing/2014/main" id="{93E2ABC8-2F06-1BF9-960A-3D62D95AAB8C}"/>
              </a:ext>
            </a:extLst>
          </p:cNvPr>
          <p:cNvSpPr txBox="1"/>
          <p:nvPr/>
        </p:nvSpPr>
        <p:spPr>
          <a:xfrm>
            <a:off x="1896793" y="6424749"/>
            <a:ext cx="8241359" cy="369332"/>
          </a:xfrm>
          <a:prstGeom prst="rect">
            <a:avLst/>
          </a:prstGeom>
          <a:noFill/>
        </p:spPr>
        <p:txBody>
          <a:bodyPr wrap="none" rtlCol="0">
            <a:spAutoFit/>
          </a:bodyPr>
          <a:lstStyle/>
          <a:p>
            <a:r>
              <a:rPr lang="en-IN" dirty="0"/>
              <a:t>Water efficiency (r=0.77) predicts yield far better than rainfall alone (r=0.10)</a:t>
            </a:r>
          </a:p>
        </p:txBody>
      </p:sp>
      <p:pic>
        <p:nvPicPr>
          <p:cNvPr id="14" name="Picture 13">
            <a:extLst>
              <a:ext uri="{FF2B5EF4-FFF2-40B4-BE49-F238E27FC236}">
                <a16:creationId xmlns:a16="http://schemas.microsoft.com/office/drawing/2014/main" id="{3DCB2C91-2D2F-5B38-65B8-A128ACAB42BC}"/>
              </a:ext>
            </a:extLst>
          </p:cNvPr>
          <p:cNvPicPr>
            <a:picLocks noChangeAspect="1"/>
          </p:cNvPicPr>
          <p:nvPr/>
        </p:nvPicPr>
        <p:blipFill>
          <a:blip r:embed="rId4"/>
          <a:srcRect r="24083"/>
          <a:stretch>
            <a:fillRect/>
          </a:stretch>
        </p:blipFill>
        <p:spPr>
          <a:xfrm>
            <a:off x="7436670" y="2247149"/>
            <a:ext cx="4755330" cy="16155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72CFE-7748-ED30-35A5-AC9867768E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1066FC-BA71-C080-F03C-D90243209FE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6544055-E940-983B-FA07-842973B3D2FF}"/>
              </a:ext>
            </a:extLst>
          </p:cNvPr>
          <p:cNvSpPr>
            <a:spLocks noGrp="1"/>
          </p:cNvSpPr>
          <p:nvPr>
            <p:ph type="title"/>
          </p:nvPr>
        </p:nvSpPr>
        <p:spPr>
          <a:xfrm>
            <a:off x="682900" y="-4928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FDEE61E-E058-1D72-1CB1-C11D7D41F2C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EB20ABF-AB48-CAF8-13E5-35B2D99F096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BAF715E2-4FA0-7329-48BE-1D83A201817E}"/>
              </a:ext>
            </a:extLst>
          </p:cNvPr>
          <p:cNvSpPr txBox="1"/>
          <p:nvPr/>
        </p:nvSpPr>
        <p:spPr>
          <a:xfrm>
            <a:off x="4267036" y="232651"/>
            <a:ext cx="3343561" cy="369332"/>
          </a:xfrm>
          <a:prstGeom prst="rect">
            <a:avLst/>
          </a:prstGeom>
          <a:noFill/>
        </p:spPr>
        <p:txBody>
          <a:bodyPr wrap="square" rtlCol="0">
            <a:spAutoFit/>
          </a:bodyPr>
          <a:lstStyle/>
          <a:p>
            <a:r>
              <a:rPr lang="en-IN" dirty="0"/>
              <a:t>Crop Distribution Heatmap</a:t>
            </a:r>
          </a:p>
        </p:txBody>
      </p:sp>
      <p:pic>
        <p:nvPicPr>
          <p:cNvPr id="11" name="Picture 10">
            <a:extLst>
              <a:ext uri="{FF2B5EF4-FFF2-40B4-BE49-F238E27FC236}">
                <a16:creationId xmlns:a16="http://schemas.microsoft.com/office/drawing/2014/main" id="{0C62B4E0-CEF2-6B2A-2C9D-32DB8FCD7386}"/>
              </a:ext>
            </a:extLst>
          </p:cNvPr>
          <p:cNvPicPr>
            <a:picLocks noChangeAspect="1"/>
          </p:cNvPicPr>
          <p:nvPr/>
        </p:nvPicPr>
        <p:blipFill>
          <a:blip r:embed="rId3"/>
          <a:stretch>
            <a:fillRect/>
          </a:stretch>
        </p:blipFill>
        <p:spPr>
          <a:xfrm>
            <a:off x="574246" y="2369706"/>
            <a:ext cx="5070355" cy="3911825"/>
          </a:xfrm>
          <a:prstGeom prst="rect">
            <a:avLst/>
          </a:prstGeom>
        </p:spPr>
      </p:pic>
      <p:pic>
        <p:nvPicPr>
          <p:cNvPr id="14" name="Picture 13">
            <a:extLst>
              <a:ext uri="{FF2B5EF4-FFF2-40B4-BE49-F238E27FC236}">
                <a16:creationId xmlns:a16="http://schemas.microsoft.com/office/drawing/2014/main" id="{FD234784-C307-C942-BA05-EA6C7060FBAD}"/>
              </a:ext>
            </a:extLst>
          </p:cNvPr>
          <p:cNvPicPr>
            <a:picLocks noChangeAspect="1"/>
          </p:cNvPicPr>
          <p:nvPr/>
        </p:nvPicPr>
        <p:blipFill>
          <a:blip r:embed="rId4"/>
          <a:stretch>
            <a:fillRect/>
          </a:stretch>
        </p:blipFill>
        <p:spPr>
          <a:xfrm>
            <a:off x="574246" y="781712"/>
            <a:ext cx="5951736" cy="1524132"/>
          </a:xfrm>
          <a:prstGeom prst="rect">
            <a:avLst/>
          </a:prstGeom>
        </p:spPr>
      </p:pic>
      <p:sp>
        <p:nvSpPr>
          <p:cNvPr id="15" name="TextBox 14">
            <a:extLst>
              <a:ext uri="{FF2B5EF4-FFF2-40B4-BE49-F238E27FC236}">
                <a16:creationId xmlns:a16="http://schemas.microsoft.com/office/drawing/2014/main" id="{61B76FE4-46D8-C19A-BF98-11629DE0DD4A}"/>
              </a:ext>
            </a:extLst>
          </p:cNvPr>
          <p:cNvSpPr txBox="1"/>
          <p:nvPr/>
        </p:nvSpPr>
        <p:spPr>
          <a:xfrm>
            <a:off x="6744928" y="2792360"/>
            <a:ext cx="5292130" cy="923330"/>
          </a:xfrm>
          <a:prstGeom prst="rect">
            <a:avLst/>
          </a:prstGeom>
          <a:noFill/>
        </p:spPr>
        <p:txBody>
          <a:bodyPr wrap="square" rtlCol="0">
            <a:spAutoFit/>
          </a:bodyPr>
          <a:lstStyle/>
          <a:p>
            <a:r>
              <a:rPr lang="en-IN" dirty="0"/>
              <a:t>Kharif has the highest crop distribution, followed by Rabi, while Zaid consistently shows the lowest crop distribution across all crops.</a:t>
            </a:r>
          </a:p>
        </p:txBody>
      </p:sp>
    </p:spTree>
    <p:extLst>
      <p:ext uri="{BB962C8B-B14F-4D97-AF65-F5344CB8AC3E}">
        <p14:creationId xmlns:p14="http://schemas.microsoft.com/office/powerpoint/2010/main" val="406084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7A593DA-A240-007D-562B-EFC4DB1674D0}"/>
              </a:ext>
            </a:extLst>
          </p:cNvPr>
          <p:cNvSpPr txBox="1"/>
          <p:nvPr/>
        </p:nvSpPr>
        <p:spPr>
          <a:xfrm>
            <a:off x="571511" y="1453610"/>
            <a:ext cx="11620489" cy="2862322"/>
          </a:xfrm>
          <a:prstGeom prst="rect">
            <a:avLst/>
          </a:prstGeom>
          <a:noFill/>
        </p:spPr>
        <p:txBody>
          <a:bodyPr wrap="none" rtlCol="0">
            <a:spAutoFit/>
          </a:bodyPr>
          <a:lstStyle/>
          <a:p>
            <a:pPr marL="285750" lvl="0" indent="-285750">
              <a:buFont typeface="Arial" panose="020B0604020202020204" pitchFamily="34" charset="0"/>
              <a:buChar char="•"/>
            </a:pPr>
            <a:r>
              <a:rPr lang="en-IN" dirty="0"/>
              <a:t>Extend the dataset across multiple years to test whether the Zaid loss pattern is consistent or year-specific</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Build a predictive model (e.g., regression) to forecast profit/yield from seasonal and resource inputs</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Incorporate real-time weather and market-price feeds for a live seasonal advisory tool</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Study the mechanisms behind </a:t>
            </a:r>
            <a:r>
              <a:rPr lang="en-IN" dirty="0" err="1"/>
              <a:t>Kharif's</a:t>
            </a:r>
            <a:r>
              <a:rPr lang="en-IN" dirty="0"/>
              <a:t> high disease/pest risk to design targeted interventions</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Deploy findings as an interactive dashboard for farmers and policymakers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343900"/>
            <a:ext cx="9368473" cy="369332"/>
          </a:xfrm>
          <a:prstGeom prst="rect">
            <a:avLst/>
          </a:prstGeom>
          <a:noFill/>
        </p:spPr>
        <p:txBody>
          <a:bodyPr wrap="square">
            <a:spAutoFit/>
          </a:bodyPr>
          <a:lstStyle/>
          <a:p>
            <a:r>
              <a:rPr lang="en-US" dirty="0">
                <a:hlinkClick r:id="rId3">
                  <a:extLst>
                    <a:ext uri="{A12FA001-AC4F-418D-AE19-62706E023703}">
                      <ahyp:hlinkClr xmlns:ahyp="http://schemas.microsoft.com/office/drawing/2018/hyperlinkcolor" val="tx"/>
                    </a:ext>
                  </a:extLst>
                </a:hlinkClick>
              </a:rPr>
              <a:t>https://github.com/ardr000005/Seasonal-Agriculture-Performance-Analysis.git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23CBC7B-A94A-2A78-8962-BEB8862F620E}"/>
              </a:ext>
            </a:extLst>
          </p:cNvPr>
          <p:cNvPicPr>
            <a:picLocks noChangeAspect="1"/>
          </p:cNvPicPr>
          <p:nvPr/>
        </p:nvPicPr>
        <p:blipFill>
          <a:blip r:embed="rId3"/>
          <a:stretch>
            <a:fillRect/>
          </a:stretch>
        </p:blipFill>
        <p:spPr>
          <a:xfrm>
            <a:off x="2678802" y="1530412"/>
            <a:ext cx="6977808" cy="494150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79968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terms/"/>
    <ds:schemaRef ds:uri="http://purl.org/dc/dcmitype/"/>
    <ds:schemaRef ds:uri="16c05727-aa75-4e4a-9b5f-8a80a1165891"/>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71af3243-3dd4-4a8d-8c0d-dd76da1f02a5"/>
    <ds:schemaRef ds:uri="http://www.w3.org/XML/1998/namespac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1406</TotalTime>
  <Words>725</Words>
  <Application>Microsoft Office PowerPoint</Application>
  <PresentationFormat>Widescreen</PresentationFormat>
  <Paragraphs>104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Google Sans Text</vt:lpstr>
      <vt:lpstr>Trebuchet MS</vt:lpstr>
      <vt:lpstr>Wingdings</vt:lpstr>
      <vt:lpstr>Wingdings 3</vt:lpstr>
      <vt:lpstr>Facet</vt:lpstr>
      <vt:lpstr>Project Title -</vt:lpstr>
      <vt:lpstr>PROBLEM  STATEMENT</vt:lpstr>
      <vt:lpstr>Project Description  This project analyzes a dataset of 4,000 farm records spanning three agricultural seasons — Kharif, Rabi, and Zaid — across 8 Indian states, 8 crops, and 4 irrigation methods. The dataset captures environmental conditions (rainfall, temperature, soil health), resource usage (fertilizer, pesticide, water), and economic outcomes (cost, revenue, profit) for each farm. The analysis follows a full data-analytics workflow: exploring the raw data, cleaning missing values and outliers, engineering derived metrics (profit margin, cost/revenue per hectare), and applying statistical tests (ANOVA, Kruskal-Wallis, Chi-square, Pearson correlation) alongside visualizations to determine whether — and why — agricultural performance differs by season. The goal is to move from raw numbers to evidence-based conclusions that could inform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Ard R</cp:lastModifiedBy>
  <cp:revision>99</cp:revision>
  <dcterms:created xsi:type="dcterms:W3CDTF">2021-07-11T13:13:15Z</dcterms:created>
  <dcterms:modified xsi:type="dcterms:W3CDTF">2026-09-09T16:05:40Z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